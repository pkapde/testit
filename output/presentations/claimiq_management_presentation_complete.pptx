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339414f40242be" /><Relationship Type="http://schemas.openxmlformats.org/officeDocument/2006/relationships/extended-properties" Target="/docProps/app.xml" Id="R1521ff20f6f04c14" /><Relationship Type="http://schemas.openxmlformats.org/officeDocument/2006/relationships/officeDocument" Target="/ppt/presentation.xml" Id="R5e92168280784b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7660736174b34"/>
  </p:sldMasterIdLst>
  <p:notesMasterIdLst>
    <p:notesMasterId xmlns:r="http://schemas.openxmlformats.org/officeDocument/2006/relationships" r:id="R97d0a98c04c4449e"/>
  </p:notesMasterIdLst>
  <p:sldIdLst>
    <p:sldId xmlns:r="http://schemas.openxmlformats.org/officeDocument/2006/relationships" id="256" r:id="R8fb64fbb91a4457d"/>
    <p:sldId xmlns:r="http://schemas.openxmlformats.org/officeDocument/2006/relationships" id="257" r:id="R4691d45680774a97"/>
    <p:sldId xmlns:r="http://schemas.openxmlformats.org/officeDocument/2006/relationships" id="258" r:id="R922c189f3faa4b73"/>
    <p:sldId xmlns:r="http://schemas.openxmlformats.org/officeDocument/2006/relationships" id="259" r:id="R70d0f756825c4f40"/>
    <p:sldId xmlns:r="http://schemas.openxmlformats.org/officeDocument/2006/relationships" id="260" r:id="Ra2255eef9ed24a0f"/>
    <p:sldId xmlns:r="http://schemas.openxmlformats.org/officeDocument/2006/relationships" id="261" r:id="R0ccbadfaa2ca45eb"/>
    <p:sldId xmlns:r="http://schemas.openxmlformats.org/officeDocument/2006/relationships" id="262" r:id="Rbdacac48937040a7"/>
    <p:sldId xmlns:r="http://schemas.openxmlformats.org/officeDocument/2006/relationships" id="263" r:id="Rac99c6b5c64b4b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016215189f4ffc" /><Relationship Type="http://schemas.openxmlformats.org/officeDocument/2006/relationships/slideMaster" Target="/ppt/slideMasters/slideMaster1.xml" Id="Rbb87660736174b34" /><Relationship Type="http://schemas.openxmlformats.org/officeDocument/2006/relationships/notesMaster" Target="/ppt/notesMasters/notesMaster1.xml" Id="R97d0a98c04c4449e" /><Relationship Type="http://schemas.openxmlformats.org/officeDocument/2006/relationships/presProps" Target="/ppt/presProps.xml" Id="R5dc481c1cc674776" /><Relationship Type="http://schemas.openxmlformats.org/officeDocument/2006/relationships/tableStyles" Target="/ppt/tableStyles.xml" Id="Raa6054d788d34cce" /><Relationship Type="http://schemas.openxmlformats.org/officeDocument/2006/relationships/slide" Target="/ppt/slides/slide1.xml" Id="R8fb64fbb91a4457d" /><Relationship Type="http://schemas.openxmlformats.org/officeDocument/2006/relationships/slide" Target="/ppt/slides/slide2.xml" Id="R4691d45680774a97" /><Relationship Type="http://schemas.openxmlformats.org/officeDocument/2006/relationships/slide" Target="/ppt/slides/slide3.xml" Id="R922c189f3faa4b73" /><Relationship Type="http://schemas.openxmlformats.org/officeDocument/2006/relationships/slide" Target="/ppt/slides/slide4.xml" Id="R70d0f756825c4f40" /><Relationship Type="http://schemas.openxmlformats.org/officeDocument/2006/relationships/slide" Target="/ppt/slides/slide5.xml" Id="Ra2255eef9ed24a0f" /><Relationship Type="http://schemas.openxmlformats.org/officeDocument/2006/relationships/slide" Target="/ppt/slides/slide6.xml" Id="R0ccbadfaa2ca45eb" /><Relationship Type="http://schemas.openxmlformats.org/officeDocument/2006/relationships/slide" Target="/ppt/slides/slide7.xml" Id="Rbdacac48937040a7" /><Relationship Type="http://schemas.openxmlformats.org/officeDocument/2006/relationships/slide" Target="/ppt/slides/slide8.xml" Id="Rac99c6b5c64b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f4b4097ceb47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ee3adaa394e4e" /><Relationship Type="http://schemas.openxmlformats.org/officeDocument/2006/relationships/notesMaster" Target="/ppt/notesMasters/notesMaster1.xml" Id="R9b4a97c4320e40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5a44b358e94447" /><Relationship Type="http://schemas.openxmlformats.org/officeDocument/2006/relationships/notesMaster" Target="/ppt/notesMasters/notesMaster1.xml" Id="R4eb0753d457042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80920798514167" /><Relationship Type="http://schemas.openxmlformats.org/officeDocument/2006/relationships/notesMaster" Target="/ppt/notesMasters/notesMaster1.xml" Id="R7b50cc20b2d14e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8173e20cb54161" /><Relationship Type="http://schemas.openxmlformats.org/officeDocument/2006/relationships/notesMaster" Target="/ppt/notesMasters/notesMaster1.xml" Id="R3b41e4c8f79649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e5d95353d041a7" /><Relationship Type="http://schemas.openxmlformats.org/officeDocument/2006/relationships/notesMaster" Target="/ppt/notesMasters/notesMaster1.xml" Id="R00cc21f97dac47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708af6a7c2480f" /><Relationship Type="http://schemas.openxmlformats.org/officeDocument/2006/relationships/notesMaster" Target="/ppt/notesMasters/notesMaster1.xml" Id="R2ffbab34e6cd47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ec38a1fe04645" /><Relationship Type="http://schemas.openxmlformats.org/officeDocument/2006/relationships/notesMaster" Target="/ppt/notesMasters/notesMaster1.xml" Id="R0f51447b7fa540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7bffcb4f9d4a12" /><Relationship Type="http://schemas.openxmlformats.org/officeDocument/2006/relationships/notesMaster" Target="/ppt/notesMasters/notesMaster1.xml" Id="R136a43d3442d4c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ClaimIQ implementation review. The platform provides decision support. Claims Adjusters make final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ClaimIQ management presentation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ClaimIQ workflow implementation. The platform performs document classification, extraction and consistency checks. The Claims Adjuster makes the final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ClaimIQ implementation review. Important production boundaries are explicitly shown to avoid overstating current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app/services/workflow.py, app/infrastructure/postgres.py, app/infrastructure/secrets.py, app/infrastructure/observability.py, app/services/policy_retrieval.py, app/services/policy_enquiry.py and app/api/v1/routes/claims.py. Phoenix uses OpenTelemetry and metadata-only tracing. LangSmith is not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ClaimIQ implementation review. No specific efficiency percentages have been validated in the current pilot, so the slide uses measurable operational outcomes rather than unsupported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ClaimIQ workflow implementation. AI outputs remain advisory and traceable. Claims Adjusters make final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ClaimIQ implementation review. The roadmap explicitly differentiates delivered capability from next-release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00d82b30f48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78846e555345b0" /><Relationship Type="http://schemas.openxmlformats.org/officeDocument/2006/relationships/slideLayout" Target="/ppt/slideLayouts/slideLayout1.xml" Id="R863878624e67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3878624e67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b1632351c4619" /><Relationship Type="http://schemas.openxmlformats.org/officeDocument/2006/relationships/notesSlide" Target="/ppt/notesSlides/notesSlide1.xml" Id="R795f695fef9d45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842adc05748a6" /><Relationship Type="http://schemas.openxmlformats.org/officeDocument/2006/relationships/notesSlide" Target="/ppt/notesSlides/notesSlide2.xml" Id="Rec31881abfb844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089ebda64427" /><Relationship Type="http://schemas.openxmlformats.org/officeDocument/2006/relationships/notesSlide" Target="/ppt/notesSlides/notesSlide3.xml" Id="Rac79b8d1d22942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b65c0254e4d0d" /><Relationship Type="http://schemas.openxmlformats.org/officeDocument/2006/relationships/notesSlide" Target="/ppt/notesSlides/notesSlide4.xml" Id="Rb6fe9e3c3bf2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225dc318a4365" /><Relationship Type="http://schemas.openxmlformats.org/officeDocument/2006/relationships/notesSlide" Target="/ppt/notesSlides/notesSlide5.xml" Id="R22d8afedd76b4f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bcfc020b4402e" /><Relationship Type="http://schemas.openxmlformats.org/officeDocument/2006/relationships/notesSlide" Target="/ppt/notesSlides/notesSlide6.xml" Id="R50687de7c07f45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884af89464e3a" /><Relationship Type="http://schemas.openxmlformats.org/officeDocument/2006/relationships/notesSlide" Target="/ppt/notesSlides/notesSlide7.xml" Id="Rf2c9a059e13247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285cc00e7498b" /><Relationship Type="http://schemas.openxmlformats.org/officeDocument/2006/relationships/notesSlide" Target="/ppt/notesSlides/notesSlide8.xml" Id="R2ac478fe48cd42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3CA0B-BA89-41D9-B876-AC746FB8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67150" cy="6858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FD5C9-A040-4317-8C0C-B92CF8FD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3867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9E30F-62BF-408A-A840-CBBB5F89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79F2-AF26-410E-A86A-297D4CAA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5E0E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5E0E9"/>
                </a:solidFill>
                <a:latin typeface="Aptos"/>
                <a:ea typeface="Aptos"/>
                <a:cs typeface="Aptos"/>
              </a:rPr>
              <a:t>AI-assisted motor claims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0E701-F8E7-4E98-8DD1-317B53D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962EA-8851-4E34-90A5-1026AF8E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71650"/>
            <a:ext cx="609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22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Claims evidence, decision support and accountable human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7A07E-8AAE-40EB-BDAD-76BF8EA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9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 practical claims workflow that prepares structured evidence for the Claims Adjuster.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98E1A-9008-4A96-9BA9-521CF2C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95850"/>
            <a:ext cx="547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9CCFC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90E9E-60B5-4DF8-A231-04CEEBA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958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AI outputs remain advisory. The Claims Adjuster owns every claim decision.</a:t>
            </a:r>
          </a:p>
        </p:txBody>
      </p:sp>
    </p:spTree>
    <p:extLst>
      <p:ext uri="{BB962C8B-B14F-4D97-AF65-F5344CB8AC3E}">
        <p14:creationId xmlns:p14="http://schemas.microsoft.com/office/powerpoint/2010/main" val="1604474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A1359-19D8-458C-BDC4-B57F9F76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6858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511C8-BF6A-4F00-A43C-A8090367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2324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483B9-CA3E-4193-8B12-5217B39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75907-2CF3-4567-A253-A4EC284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Motor Claims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B70D0-7422-4164-8B5A-5825ACF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BC7C7-E6D0-4786-967F-D6666F2B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DE169-3577-4F39-A612-24F9971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3E6B2-9114-4B0E-AE22-BD606BB1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Management discussion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A6144-8B51-453D-81FA-3A793D3C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38225"/>
            <a:ext cx="842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The deck focuses on what has been implemented, how it works, and what remains for production scale.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2729D-BCA2-4890-A9BE-04DAD79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8820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D1730-A008-49C1-A517-2A8FC903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3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BEC6-3D8F-47A6-B7F6-068BED21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23E4B-A203-46D9-99FA-26B64C0F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Claims review challenge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4DC40-C415-40A3-A207-45922C6E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0275"/>
            <a:ext cx="638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Why evidence-heavy motor claims create review time and rework.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ED250-C79F-4A25-AF77-F605AAC2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D8C82-5532-4325-91AF-0EB9E240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00D1A-2D5E-4D41-B73B-A05297A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Solution scope and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BA365-791F-46B3-903E-5CD133F9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14675"/>
            <a:ext cx="638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What ClaimIQ supports today and where human authority remains.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36860-0D03-46E2-B99E-7B04113D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30A53-C4D6-4D02-9CEA-C3FB5088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9EA28-820C-48ED-8A4C-EE1BD6EF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8657D-9725-4AD0-930E-588682C3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29075"/>
            <a:ext cx="638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How the portals, APIs, AI services, data stores and observability connect.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B8A79-7AF5-486A-B73F-FDF5AF5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F2E91-050E-49E6-8AE2-83ADE06A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D8F23-CA5C-432F-A07C-14906F41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Technology and value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7E77C-8B9E-477B-BA96-50B2594E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43475"/>
            <a:ext cx="638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The deployed stack and the pilot measures used to assess operational value.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AFA17-B568-4CF7-9365-1402171F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62625"/>
            <a:ext cx="8820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6CBC75-BC04-4EDE-BD04-05F48C5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34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Slides 7 and 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15195-5E2C-4F7D-99EE-A7E06F17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3407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AI-assisted claims validation and platform roadmap follow this core section.</a:t>
            </a:r>
          </a:p>
        </p:txBody>
      </p:sp>
    </p:spTree>
    <p:extLst>
      <p:ext uri="{BB962C8B-B14F-4D97-AF65-F5344CB8AC3E}">
        <p14:creationId xmlns:p14="http://schemas.microsoft.com/office/powerpoint/2010/main" val="372690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895C39-3977-4812-8FB1-E7D56C4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6858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07A1-F498-4BB9-8D21-8C22640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2324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72B81-15CB-4938-BF13-8EEAF5F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E47D6-E8E4-4FDE-A2F6-B91B1E1D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Motor Claims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6F7BA-DD88-41F7-9490-A77C22A0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Business</a:t>
            </a:r>
          </a:p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2C977-30BA-41BD-BAC7-8EA9E6BF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9800E-161A-4379-A7F5-CB03652C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FCAB7-F253-46DB-B785-AA5A9E2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Claims review 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C41E0-E6CE-47DF-ADAF-25E6ED05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38225"/>
            <a:ext cx="842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Motor claims arrive as mixed evidence. The review task is to reconcile that evidence before a human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8000A-3AA9-44DF-8312-BA7DD90A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8820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E5FED-073D-434D-85F7-0AF35E1D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192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Where the current process slows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EA77A-AD2E-4F7E-B962-A73BEB8C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192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How ClaimIQ responds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AF67C-A420-4558-B6D3-50DE84D3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336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5F25A-5989-465A-9E86-69E470F6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Mixed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CE305-954E-4AB8-9080-F9971995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358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85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Photos, forms, policy documents and repair records arrive in different formats.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409C3-7F2A-409B-9DE1-1E038E05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861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DECFF-72D5-432B-A7C3-AD6DD5F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38475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Manual reconciliation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25D6F-C6A0-41A0-BEAA-8188DF6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86125"/>
            <a:ext cx="358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49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Validators compare identity, vehicle, policy dates and repair values across documents.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12B23-A750-4365-90D5-2BCC82F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38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106B3-DC70-4CF3-890C-A56A3F25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Rework and delays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D4982-D437-4573-9A48-6854A8DE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38600"/>
            <a:ext cx="358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1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Missing or inconsistent evidence requires follow-up before the claim can progress.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E3678-7B97-4E70-9F56-CB477B8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91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7D0FF-8C6E-44A8-8783-57863277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43425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Decision traceability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AE055-7BF9-4E05-89E5-392C29D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91075"/>
            <a:ext cx="358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3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Reviewers need a clear evidence trail for their final outcome.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EAF27-25C6-4098-A85A-5DBCCB9D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57425"/>
            <a:ext cx="3552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75728-6C91-4531-9E37-36F8E6F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90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12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CCF5F-536A-4475-AF6D-EFCB440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7172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Upload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0EB9A-B9D2-4C10-B7C8-125BBC30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95600"/>
            <a:ext cx="3552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9A2BC-2962-43E9-8D93-315B6D6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12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E5C387-1C31-416E-84CE-CA57E928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Classify and extract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19137-533A-4C68-B9A5-2006374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33775"/>
            <a:ext cx="3552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F6CD3-2F59-4DDD-8CFB-F8BA249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12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07A8D4-5EC3-4F86-8D7C-36ECB4A1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4807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Check document consistency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6AA51C-06D2-429E-8337-FF52975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71950"/>
            <a:ext cx="3552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5E6C30-0057-4A95-A9DA-53526EB6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12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83974-8B1B-474E-983D-F82FA7D1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Present the evidence pack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75CBCF-A0EA-4256-8C0B-7E019E66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35528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007C7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4243E9-BC39-47A4-8CF5-5D6185CF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43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12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1E9660-D870-4FA2-ADD1-46E90335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2442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Claims Adjuster decision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B1EBB7-7B48-41F3-8925-E2E3CF12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648325"/>
            <a:ext cx="35528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1A1F60-C133-4A60-AD48-CC3DEFB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91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5E0E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E0E9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25D38F-6CCF-425D-9C8B-8C58EDFA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000750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readable evidence pack supports a faster, accountable review.</a:t>
            </a:r>
          </a:p>
        </p:txBody>
      </p:sp>
    </p:spTree>
    <p:extLst>
      <p:ext uri="{BB962C8B-B14F-4D97-AF65-F5344CB8AC3E}">
        <p14:creationId xmlns:p14="http://schemas.microsoft.com/office/powerpoint/2010/main" val="97678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8B2F37-74D4-4932-AA36-759D05CC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6858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EFF2-53FA-4A9F-B6A0-4E973214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2324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A4303-01EC-4861-AEA9-803172BE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BBAF6-6C0E-4411-97F3-220A04C8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Motor Claims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6CC2F-28F1-49BC-8976-167F8608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Delivery</a:t>
            </a:r>
          </a:p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B8286-498F-4FA4-BD83-145992BF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E0B04-63BC-4081-8BDC-9F1831A7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BD98D-A392-43B1-BA8B-B04CF00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Solution scope and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FE1A0-BCF5-41DD-B548-D67D82AA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38225"/>
            <a:ext cx="842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0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ClaimIQ supports the claims review workflow. It does not replace the insurer’s policy administration system or Claims Adjuster authority.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E074F-736F-4AE0-A6DE-ACA47D23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8820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96303-3B9A-4B66-98D0-F3E8295F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Implemented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C4BC6-6B45-41C1-9519-ADF3C257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Control 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C407F-F024-4C9D-BA21-DE9B21CC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383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6FF4A-384F-4724-B160-25439F2E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383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EC44D-9FFE-4F48-8D83-56FBF0DE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526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Evidence intake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25821-6ED7-404C-B86E-7281E98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1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Claimants upload accident photos and supporting PDFs. Azure Blob Storage keeps source documents.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8714C-B8F9-40DC-8B21-1CBDFDAB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146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3CACD-0129-4191-9379-AD49C93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146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6C776-FCDE-44E1-AA51-E3ECBF1D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289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Review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2604A-DE69-4072-BC86-FC8E1863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57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The workflow classifies evidence, extracts fields, checks consistency and generates reviewer aids.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F320F-0B6C-483E-87ED-251164E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909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9A397-A7A4-4679-BB90-AA7D20FE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909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272F7-1B67-41A3-9309-3320599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052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Decision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025EB-BA50-4E99-A147-A072CF7B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243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3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Validators can approve, reject or request more information. Claimant status reflects the selected 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7997A-D670-4580-B7E5-6CDA3071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672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85AD88-DC90-4B3D-A9BA-0CCB543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672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76AFF-B4EB-4F91-BFF9-EFC3165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815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Policy Assistant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44A2C7-74DE-46AF-B280-CDD76BF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006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8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Validators can ask questions against indexed policy wording and the selected claim context.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F1FA3-8FEF-495E-979C-176FA09B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6DF8A-7BE7-475A-9A2C-9914B2EA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369A1-0C06-438A-A256-2BEED5B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526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Human decision control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95505-46C1-473A-B0DB-322C8C2F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76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AI recommendations remain advisory. The Claims Adjuster owns the outcome and rationale.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91A8D3-6808-4543-B5B0-E37DE3AF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2B4160-C7A7-4E61-814D-70A5A469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007FB5-3F03-47BD-8C9E-D0D5EA11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289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Policy data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6DC3F6-E1C9-4D78-8CB3-237CDFBE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3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Current eligibility checks use the submitted policy schedule. Production verification needs an insurer policy-system integration.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7ECBF-4BEB-43BE-8AAD-298B51FE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5D748C-3B1A-4D2F-A692-B7AFD24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5F35B5-C1A1-400B-8566-2B375166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052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Fraud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70CCD-4DBE-49EC-8B9B-DD5AD681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243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1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Current workflow provides fraud-risk screening and reviewer escalation. It does not adjudicate fraud.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C9E8B4-ADF3-41AD-889F-E16BDF22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67275"/>
            <a:ext cx="3924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D604B5-ED03-4981-B282-AD3FEA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6727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108EC5-5AB4-4356-814E-2CB41D75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815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Document boundary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BE6205-05FB-4482-AED9-1AE9D852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00650"/>
            <a:ext cx="3409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3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The workflow checks document content and consistency. Formal tamper detection remains a future control.</a:t>
            </a:r>
          </a:p>
        </p:txBody>
      </p:sp>
    </p:spTree>
    <p:extLst>
      <p:ext uri="{BB962C8B-B14F-4D97-AF65-F5344CB8AC3E}">
        <p14:creationId xmlns:p14="http://schemas.microsoft.com/office/powerpoint/2010/main" val="1666709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0A0E25-43F8-493B-B1BA-F069C7C9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6858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33075-F5F2-4B32-BFE7-FE90E67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2324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C7F0C-4979-47AC-84DF-736FA97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AFC76-A22A-40CF-8573-D749A934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Motor Claims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3709F-0442-48C3-ACAA-51647153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System</a:t>
            </a:r>
          </a:p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715FF-F366-4164-B5E8-5525A8A5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A0658-B3D0-4EC8-A02A-9BDE740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A6126-4D88-4DED-A118-58E1A59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98FD0-07D1-401F-8F41-72E806C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38225"/>
            <a:ext cx="842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ClaimIQ separates customer evidence, business workflow, AI services, enterprise data and operational telemetry.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0A665-B5A8-40EC-ADA7-3F68034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8820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2369F-ACDD-41C0-A074-D47C1E1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335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User channels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E53CF-B6F5-42DC-8154-CFD51F9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19300"/>
            <a:ext cx="190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9525">
            <a:solidFill>
              <a:srgbClr val="B9D5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6740C-F636-4C0F-89F1-B481799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621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Claimant Portal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FD6A1-8161-4E4F-BA3B-A7B2AB88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717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42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React UI for evidence upload and claim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14294-4486-4DB4-BEF7-AA8F368C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190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9525">
            <a:solidFill>
              <a:srgbClr val="B9D5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757C9-EB0E-4861-ACAD-87B5342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621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Validator Portal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5D62C-0205-449C-AED1-E3FBCC7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717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154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React UI for evidence review, decisions and Policy Assistant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0D4A1-2038-482C-B44F-A9C5465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48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80A0A-896A-4522-AAC7-F2B9B715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FastAPI application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96B82-8FAF-485F-AA63-70173774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71725"/>
            <a:ext cx="400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Claim APIs, review actions, local pilot authentication and status propagation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E7159-FD0A-4370-8297-631E3EF9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AI-assisted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FE2FB-41DC-4D3F-8279-7953BC9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09925"/>
            <a:ext cx="2724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0B4DF-34CB-406D-BECD-7BE5F24B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623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Evidence processing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00DDA-3C12-468F-9535-6FCFCC9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099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42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Classification, extraction and document review briefs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FD0BB-CDD0-4A83-9935-636AB128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09925"/>
            <a:ext cx="2724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9CCFC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D3384-BD0D-47BC-93EC-D8766733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623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57991-3E26-4829-A777-5FED6F6E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099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Policy eligibility, coverage, fraud-risk screening and settlement recommendation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18F51-DC2B-4765-B3CA-91DDDB37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2724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080F1-F01D-49E6-816E-1BFA956C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Policy Assistant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600666-0CC2-4911-864C-983E561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99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Grounded policy enquiry using indexed policy wording and claim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BEB1C-D191-4B6C-8EEA-47519812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849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LangGraph orchestration coordinates the workflow. Azure AI Foundry provides Azure OpenAI model access. Azure AI Document Intelligence supports document extraction.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258845-E6B5-4D93-BA4E-292BFF85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1012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Enterprise data, security and observability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E34C00-E23D-4EC8-B327-EB778EC0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95875"/>
            <a:ext cx="2038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EE9FF-B8AC-493E-9876-408165A3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387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Azure Blob Storage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BA7B6-6E5F-4FCF-997D-58DF77AC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67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Private source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45A4F7-42F1-4415-8940-4ABFBBC9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95875"/>
            <a:ext cx="2038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AA1A29-975C-48C4-9713-8FD0C4FB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387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A0CEBF-3232-451F-A0F3-F854D1D0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467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79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Claim metadata, review tasks and audit events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098C03-145A-4D8E-BBF9-3F7695AB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95875"/>
            <a:ext cx="2038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826402-74D8-4691-853C-6351CDF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Key Vault and managed identity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3A7C84-81EE-4A3D-9F0D-40EE0E25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67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Production secret resolution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608B9B-B9CC-4DED-A7C9-5BBFC26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95875"/>
            <a:ext cx="2038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7646F0-28F9-4A3D-A46F-E7A6024C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2387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Arize Phoenix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4C554D-A9DE-4421-AF46-1A85809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67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Self-hosted OpenTelemetry traces with metadata only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EF89E3-2294-47AB-B4EC-9102FE66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153150"/>
            <a:ext cx="8820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0BB5F9-B776-4416-AA80-3A20EE5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181725"/>
            <a:ext cx="826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Observability: Phoenix replaces LangSmith. The current integration emits safe operational metadata, not claim document content.</a:t>
            </a:r>
          </a:p>
        </p:txBody>
      </p:sp>
    </p:spTree>
    <p:extLst>
      <p:ext uri="{BB962C8B-B14F-4D97-AF65-F5344CB8AC3E}">
        <p14:creationId xmlns:p14="http://schemas.microsoft.com/office/powerpoint/2010/main" val="2073938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DE5FF2-789F-45C8-B4E5-F4C23D7C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6858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3126A-175C-49E5-B7D6-A4597C4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2324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AA6B0-88E6-4CAC-9CCC-DF89C234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4CB8E-7278-4788-A0DD-3E30BAF4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Motor Claims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937C9-6AAD-4529-A39A-E0B0E318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Technology</a:t>
            </a:r>
          </a:p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and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03952-BFC5-4029-B6CC-2B843D3D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052A2-B801-4D88-8E14-E62FE2FD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00B6F-C61B-4418-B5C0-73881862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Technology and value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04F26-DE14-47DD-812F-0288D604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38225"/>
            <a:ext cx="842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6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The stack supports a controlled Azure deployment and a measurable pilot. Performance benefits need baseline measurement before management commitments.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78A63-F8FA-493B-B848-F97B27AE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8820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1095-AD35-4056-BD2E-6A7F437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Implemented technology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E3056-EB38-4C74-8967-CF1472E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479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6C6A8-111F-4599-8966-8ABD0D55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B679E-AA8C-443E-B4E4-C965A25C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React claimer and validator portals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0DF64-5EAE-4D38-BC6F-ECAB0B0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9F9DE-6703-40AE-8650-F078A15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0C95D-12F5-4ABE-8E76-B1F835E0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Python and FastAPI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F74C3-6F43-40AB-838B-224FA340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147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7A34C-869C-48E6-82F3-5F653E14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AI orchestration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AC4F3-33DC-42C9-B3F3-AB66C4F5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8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LangGraph with Azure OpenAI through Azure AI Foundry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1A31C-44EB-409C-8F4B-E9A7BDE2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481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AC0BA-A3C0-48E2-A57D-2C6ED0F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Document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ECB90-E423-4D5E-BA2A-3067E426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Azure AI Document Intelligence and PDF text processing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BFDD7-98DB-489F-B33C-D3570148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815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57432-C775-4812-92FB-E00A581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243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Data and 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6A074-9B9D-4625-A314-962DDDA1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9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PostgreSQL for metadata and audit events, Azure Blob Storage for source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22401-D0ED-4693-B9DB-93EE0F7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149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C55B1-20E9-48C7-865C-BCD79D6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577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Security and observability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D7996-C8C2-4F27-912B-0123CEB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577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76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Key Vault, managed identity and self-hosted Arize Phoenix with OpenTelemetry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0AFA0-C435-48AC-95E5-24FA5D1F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Pilot value measures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02028-714F-43C9-A731-7F79235B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448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9CCFC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9E5101-5839-4D00-BCED-45DC499A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1457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Review minutes per claim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92308D-A4B7-42E1-8F05-BAE6E95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981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49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Measure the time from validator opening the evidence pack to recorded outcome.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9ACAC8-902B-41AE-A8F8-01B3234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448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3A471D-9551-409E-9CFD-D2F6A5DD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 turnaround time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A18F1E-4572-423E-952A-12A5287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05175"/>
            <a:ext cx="2981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6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Measure intake to decision, then compare by claim type and evidence completeness.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138F9B-83F9-4940-8809-421ACDB9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448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D52140-BF63-4D28-B168-5EFDA23E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9572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Information-request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7F91C-D6CD-43EE-A266-02A3534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981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442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Track where missing or inconsistent evidence creates claimant follow-up.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3309E3-8411-43E9-8173-F96A10E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81525"/>
            <a:ext cx="3448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14D5A0-877D-4155-BDFA-EFC15438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Rework and exception volume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48B364-0B0A-4425-842F-235C4F01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86325"/>
            <a:ext cx="2981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5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Track repeated reviews, policy holds and elevated fraud-risk cases.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F1312A-0B4B-4EDD-B5F6-A0FBF9E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9750"/>
            <a:ext cx="866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C3775A-5D38-4C22-901D-C30E3A2E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007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reporting principle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3EDAD6-E874-4D51-8443-94DDF33B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48375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5E0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5E0E9"/>
                </a:solidFill>
                <a:latin typeface="Aptos"/>
                <a:ea typeface="Aptos"/>
                <a:cs typeface="Aptos"/>
              </a:rPr>
              <a:t>Use pilot baselines and observed results before quoting efficiency or cost-reduction percentages. Current dashboards should report actual workflow activity, not assumed ROI.</a:t>
            </a:r>
          </a:p>
        </p:txBody>
      </p:sp>
    </p:spTree>
    <p:extLst>
      <p:ext uri="{BB962C8B-B14F-4D97-AF65-F5344CB8AC3E}">
        <p14:creationId xmlns:p14="http://schemas.microsoft.com/office/powerpoint/2010/main" val="293256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E01BAC-661D-48B7-BB9F-4169C4E5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6858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033AD-1308-4506-823C-F7EDDB93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2324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95A65-A51C-496E-B0A6-5EC3D6E8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EF898-8D69-41A0-A3B1-8EB9593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Motor Claims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9DE24-EA2E-41B9-8B3A-830D5547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Agent and</a:t>
            </a:r>
          </a:p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human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256B7-3F6F-4ECB-90B1-50F4095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3DF2F-FCC7-4B78-81F5-D0AE4D49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55441-CE13-405F-9F59-098598D2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AI-assisted claims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633F8-AB42-4DD0-8542-7766031F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38225"/>
            <a:ext cx="842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LangGraph prepares structured evidence. The Claims Adjuster owns every claim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86209-C5BB-41CA-B9B2-6832755A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8820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729F9-12C3-4668-87F0-80B18C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52625"/>
            <a:ext cx="1714500" cy="19335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69D3F-85F3-4E03-90A0-A0D69BC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3297B-DF71-4E16-83F1-97313815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14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 intake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2632A-16E8-4215-90BF-6D430DEF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05150"/>
            <a:ext cx="1371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AD3E3-D8C1-4951-98BC-2AAA53F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1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Photos, policy and supporting documents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BE0E5-2AEF-4F1C-B80B-D0B3D71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1714500" cy="19335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02349-B327-4B2C-A183-85A1CA38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336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6FCFB-EE7E-438C-8509-A0813DF7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14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Evidence preparation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92EA3-256D-4450-AA83-0A38F36C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05150"/>
            <a:ext cx="1371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FA310-EB1F-45E1-9FAB-F1CD5395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670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2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Classification, extraction and document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970D1-3749-453C-8C9E-0E318A4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1714500" cy="19335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C93B9-91E4-4738-AFE4-F707A664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336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71AC0-4AEF-4CDC-BF8F-E4BFF25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14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Assessment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D84CC-C325-412D-8D0C-79D16575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05150"/>
            <a:ext cx="1371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5A394A-BBC8-4ED2-B6BB-19017E6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670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Policy eligibility, risk and coverage signals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5311C-692B-4455-8073-12CFDBD8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52625"/>
            <a:ext cx="1714500" cy="19335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41774-C3CA-4B74-B786-16C09A92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336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95ACE-515C-4567-BC73-A62C02C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14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Validator evidence pack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DB911-A7EF-40A4-BF9A-42A9A4D7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105150"/>
            <a:ext cx="1371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20E2F-5745-40C9-B6C3-FB1A57BE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670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7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Readable findings, source documents and policy assistance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3E8DC-5ADB-45D2-976A-12994E85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952625"/>
            <a:ext cx="1714500" cy="19335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007C7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8ABEE5-3508-4B42-BDC5-C65CDF1D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336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E64560-B01B-4243-A903-5E8AB395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14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9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Human 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389EC9-785D-4653-9249-E444F19B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05150"/>
            <a:ext cx="1371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FC0"/>
          </a:solidFill>
          <a:ln xmlns:a="http://schemas.openxmlformats.org/drawingml/2006/main" w="0">
            <a:solidFill>
              <a:srgbClr val="9CCFC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45E204-C4A3-44CF-8C7A-8C1370F0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2670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1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Approve, reject or request more information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EEECEF-AE47-423C-8F3B-B40588B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179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Where AI assists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0DA029-96BE-4A84-B995-44EE0DA3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43425"/>
            <a:ext cx="828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2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The workflow presents consistent evidence checks before the validator opens the case. Every AI output remains advisory and traceable.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D5D1A7-F39B-4094-B186-23040D8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38750"/>
            <a:ext cx="88201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216046-BEA3-4514-AED9-CD3EDD5C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387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control remains with the Claims Adjuster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1C77E7-0EAF-480A-885D-E333AB92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02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0E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0E9"/>
                </a:solidFill>
                <a:latin typeface="Aptos"/>
                <a:ea typeface="Aptos"/>
                <a:cs typeface="Aptos"/>
              </a:rPr>
              <a:t>Approve / Reject / Request more information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9D77C-B962-45E6-8351-F1E7161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6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0E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0E9"/>
                </a:solidFill>
                <a:latin typeface="Aptos"/>
                <a:ea typeface="Aptos"/>
                <a:cs typeface="Aptos"/>
              </a:rPr>
              <a:t>The validator chooses the outcome and can request specific missing evidence from the claimant.</a:t>
            </a:r>
          </a:p>
        </p:txBody>
      </p:sp>
    </p:spTree>
    <p:extLst>
      <p:ext uri="{BB962C8B-B14F-4D97-AF65-F5344CB8AC3E}">
        <p14:creationId xmlns:p14="http://schemas.microsoft.com/office/powerpoint/2010/main" val="341095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CDAAC3-5B1C-4889-8C81-0146C62D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6858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9263F"/>
          </a:solidFill>
          <a:ln xmlns:a="http://schemas.openxmlformats.org/drawingml/2006/main" w="0">
            <a:solidFill>
              <a:srgbClr val="09263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2D89F-E39D-4ED9-8BE9-7B32CEC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2324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0178A-BD63-4576-84CC-3A14EA2C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B6A76-6894-4B3D-ACFB-380B8AD3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Motor Claims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94372-FFBB-4656-8F2A-75B928EE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Platform scope</a:t>
            </a:r>
          </a:p>
          <a:p xmlns:a="http://schemas.openxmlformats.org/drawingml/2006/main">
            <a:pPr>
              <a:defRPr sz="2100" b="1">
                <a:solidFill>
                  <a:srgbClr val="F36F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6F21"/>
                </a:solidFill>
                <a:latin typeface="Aptos"/>
                <a:ea typeface="Aptos"/>
                <a:cs typeface="Aptos"/>
              </a:rPr>
              <a:t>and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03EA3-E1E5-40FF-B474-573EA3DB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Management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84C52-70E6-4F42-A247-B14B4048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B883B-A0E4-4A9C-813D-8C3C8E6C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Current capabilities and next release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A7679-8DBD-44A5-85B3-3ACBC3A7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38225"/>
            <a:ext cx="842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The current platform supports an AI-assisted validator workflow. The next release extends enterprise controls and integrations.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AF0A1-564D-44EC-B973-912D850C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8820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ED6F7-A799-46A0-9127-E01B4E81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811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Delivered in the current 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A6F94-FA5F-432A-A77A-9630ECF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811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Next release priorities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34851-22D7-45AA-BD51-BA3664A8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33550"/>
            <a:ext cx="9525" cy="392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AA320-4BAD-4B1D-AE60-6009386B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EA669-22BA-4A94-BE38-1A37C709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Claim evidence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6E97F-EE66-4D1D-A69C-95B5727C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050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Uploads and review of photos plus core motor-claim documents.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FD861-D7F5-4F27-9BA1-B0FD505D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D3FCD-90C4-4661-B9D3-A64156C0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241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Evidence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17EAA-D09C-46AC-8D72-1337DD8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2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Comparison of identity, vehicle, policy period and repair-cost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E1900-ED60-4812-8DD0-B074F34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23BB4-150B-41BB-A0EE-D0CD516D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99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Validator decisioning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500CE-6F93-457C-997A-8F8C78AC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766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8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Approve, reject or request documents. The claimant status updates accordingly.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971F6-D0CC-4F5E-BEDB-50FBC0B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60558-53E6-4FDB-BEF5-CDCD1561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957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Policy Assistant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BED88-37D5-41D6-889A-490A7834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624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8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Policy enquiry support grounded in indexed policy wording and claim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CEC79-E04D-40CB-9D5C-7FA236D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482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C5F2E-F299-444A-90B7-8523D564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815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Azure-ready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18643-085F-4F1C-90DB-5302796B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482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2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Azure AI services, Blob Storage, PostgreSQL, Key Vault and managed identity.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0AA38C-807B-4F65-A9C7-B4EA32A8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BBC0A1-A6A6-4AA4-A018-F9BAB47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383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Policy administration integration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93432-DCA7-4066-BAC3-B9A8D256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050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1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Verify active policy data against the insurer’s authoritative policy system.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0589C-FB65-4CD3-A7AF-6E116B9C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951D6-DE9D-4406-95A6-548D407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241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Document authenticity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4D2DA4-E88E-45BA-98E1-57310605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70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Add tamper detection and external verification for documents and images.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93027F-58A3-4F19-903F-CC16AF96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CC5B22-C2E7-4738-8DDB-6C838151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99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Low-risk routing rules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BD7267-3B80-4734-BFA8-5919D47B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1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Configure straight-through routing with limits, audit controls and human override.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394BF4-77D4-43C2-B646-17B0A13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624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5A0B00-EFC2-44B5-9D49-76437934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957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Enterprise tenancy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E2818D-AC65-498E-B195-43C66A3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624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Add organisation-level data isolation, administration and configuration.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9DF407-0712-469E-8CE6-C439A35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778A9-BA47-4672-9CA7-90118B29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815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Operational analytics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36D0BF-181B-42C7-B9DE-41C7CD8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48275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71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Measure queue ageing, turnaround time, rework and information-request trends.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64B570-B43F-49B9-A6D3-77C6D327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48350"/>
            <a:ext cx="8820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980819-EA26-4913-BFF4-8722476F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019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9263F"/>
                </a:solidFill>
                <a:latin typeface="Aptos"/>
                <a:ea typeface="Aptos"/>
                <a:cs typeface="Aptos"/>
              </a:rPr>
              <a:t>Pilot success measures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6A80DC-7045-4921-8EDA-EE610141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01980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773"/>
                </a:solidFill>
                <a:latin typeface="Aptos"/>
                <a:ea typeface="Aptos"/>
                <a:cs typeface="Aptos"/>
              </a:rPr>
              <a:t>Review minutes per claim, turnaround time, rework rate, information-request rate and exception volume.</a:t>
            </a:r>
          </a:p>
        </p:txBody>
      </p:sp>
    </p:spTree>
    <p:extLst>
      <p:ext uri="{BB962C8B-B14F-4D97-AF65-F5344CB8AC3E}">
        <p14:creationId xmlns:p14="http://schemas.microsoft.com/office/powerpoint/2010/main" val="2118064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2026-09-20T22:19:29.7130000Z</dcterms:created>
  <dcterms:modified xsi:type="dcterms:W3CDTF">2026-09-20T22:19:29.7130000Z</dcterms:modified>
</coreProperties>
</file>